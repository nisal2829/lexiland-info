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548640"/>
            <a:ext cx="1097280" cy="2011680"/>
          </a:xfrm>
          <a:prstGeom prst="ellipse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15600" y="1280160"/>
            <a:ext cx="914400" cy="1645920"/>
          </a:xfrm>
          <a:prstGeom prst="ellipse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3108960"/>
            <a:ext cx="1371600" cy="1828800"/>
          </a:xfrm>
          <a:prstGeom prst="ellipse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3749039"/>
            <a:ext cx="1280160" cy="2011680"/>
          </a:xfrm>
          <a:prstGeom prst="ellipse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38160" y="4937760"/>
            <a:ext cx="1005840" cy="1280160"/>
          </a:xfrm>
          <a:prstGeom prst="ellipse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8503920" y="-365760"/>
            <a:ext cx="3383280" cy="1920240"/>
          </a:xfrm>
          <a:prstGeom prst="arc">
            <a:avLst/>
          </a:prstGeom>
          <a:solidFill>
            <a:srgbClr val="1F4E39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960120"/>
            <a:ext cx="6858000" cy="7315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3800" b="1" i="0">
                <a:solidFill>
                  <a:srgbClr val="FFFAE6"/>
                </a:solidFill>
                <a:latin typeface="Aptos"/>
              </a:defRPr>
            </a:pPr>
            <a:r>
              <a:t>LEXILAND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7040880" cy="12344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A Bilingual Gamified Platform for Dyslexia Screening</a:t>
            </a:r>
          </a:p>
          <a:p>
            <a:pPr algn="l">
              <a:spcAft>
                <a:spcPts val="600"/>
              </a:spcAft>
              <a:defRPr sz="2500" b="1" i="0">
                <a:solidFill>
                  <a:srgbClr val="FFFFFF"/>
                </a:solidFill>
                <a:latin typeface="Aptos"/>
              </a:defRPr>
            </a:pPr>
            <a:r>
              <a:t>and Personalised Learning Support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10128"/>
            <a:ext cx="65836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D7E8D3"/>
                </a:solidFill>
                <a:latin typeface="Aptos"/>
              </a:defRPr>
            </a:pPr>
            <a:r>
              <a:t>Common Research Project  |  Project ID: R26-IT-130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41648"/>
            <a:ext cx="6583680" cy="7772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FFAE6"/>
                </a:solidFill>
                <a:latin typeface="Aptos"/>
              </a:defRPr>
            </a:pPr>
            <a:r>
              <a:t>Working Memory  •  Phonological Awareness</a:t>
            </a:r>
          </a:p>
          <a:p>
            <a:pPr algn="l">
              <a:spcAft>
                <a:spcPts val="600"/>
              </a:spcAft>
              <a:defRPr sz="1700" b="1" i="0">
                <a:solidFill>
                  <a:srgbClr val="FFFAE6"/>
                </a:solidFill>
                <a:latin typeface="Aptos"/>
              </a:defRPr>
            </a:pPr>
            <a:r>
              <a:t>Reading Processing  •  Speech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35040"/>
            <a:ext cx="76809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 i="0">
                <a:solidFill>
                  <a:srgbClr val="D7E8D3"/>
                </a:solidFill>
                <a:latin typeface="Aptos"/>
              </a:defRPr>
            </a:pPr>
            <a:r>
              <a:t>Sri Lanka Institute of Information Technology  |  October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6080760"/>
            <a:ext cx="32004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000" b="1" i="0">
                <a:solidFill>
                  <a:srgbClr val="FFFAE6"/>
                </a:solidFill>
                <a:latin typeface="Aptos"/>
              </a:defRPr>
            </a:pPr>
            <a:r>
              <a:t>JUNGLE-INSPIRED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Why an integrated, bilingual support platform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698480" cy="6858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400" b="1" i="0">
                <a:solidFill>
                  <a:srgbClr val="1F4E39"/>
                </a:solidFill>
                <a:latin typeface="Aptos"/>
              </a:defRPr>
            </a:pPr>
            <a:r>
              <a:t>Many children experience reading-related difficulties, but the support available to them can be fragmented.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68880"/>
            <a:ext cx="5257800" cy="123444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2468880"/>
            <a:ext cx="109728" cy="1234440"/>
          </a:xfrm>
          <a:prstGeom prst="rect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633472"/>
            <a:ext cx="4709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F29D38"/>
                </a:solidFill>
                <a:latin typeface="Aptos"/>
              </a:defRPr>
            </a:pPr>
            <a:r>
              <a:t>LATE IDENTIFICATION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62656"/>
            <a:ext cx="4681728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2A362E"/>
                </a:solidFill>
                <a:latin typeface="Aptos"/>
              </a:defRPr>
            </a:pPr>
            <a:r>
              <a:t>Difficulties may go unnoticed until a learner falls behind.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68880"/>
            <a:ext cx="5257800" cy="123444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2468880"/>
            <a:ext cx="109728" cy="1234440"/>
          </a:xfrm>
          <a:prstGeom prst="rect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2633472"/>
            <a:ext cx="4709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5B9B5D"/>
                </a:solidFill>
                <a:latin typeface="Aptos"/>
              </a:defRPr>
            </a:pPr>
            <a:r>
              <a:t>LANGUAGE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962656"/>
            <a:ext cx="4681728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2A362E"/>
                </a:solidFill>
                <a:latin typeface="Aptos"/>
              </a:defRPr>
            </a:pPr>
            <a:r>
              <a:t>Sinhala-specific screening resources are limited; many tools focus on English.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77639"/>
            <a:ext cx="5257800" cy="1234440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977639"/>
            <a:ext cx="109728" cy="1234440"/>
          </a:xfrm>
          <a:prstGeom prst="rect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4142231"/>
            <a:ext cx="4709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886FB5"/>
                </a:solidFill>
                <a:latin typeface="Aptos"/>
              </a:defRPr>
            </a:pPr>
            <a:r>
              <a:t>SINGLE-SKILL TOOLS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471416"/>
            <a:ext cx="4681728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2A362E"/>
                </a:solidFill>
                <a:latin typeface="Aptos"/>
              </a:defRPr>
            </a:pPr>
            <a:r>
              <a:t>Existing solutions often address one skill or one stage of support.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977639"/>
            <a:ext cx="5257800" cy="1234440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977639"/>
            <a:ext cx="109728" cy="1234440"/>
          </a:xfrm>
          <a:prstGeom prst="rect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4142231"/>
            <a:ext cx="47091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400" b="1" i="0">
                <a:solidFill>
                  <a:srgbClr val="DE8096"/>
                </a:solidFill>
                <a:latin typeface="Aptos"/>
              </a:defRPr>
            </a:pPr>
            <a:r>
              <a:t>LIMITED FOLLOW-THROUGH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4471416"/>
            <a:ext cx="4681728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0" i="0">
                <a:solidFill>
                  <a:srgbClr val="2A362E"/>
                </a:solidFill>
                <a:latin typeface="Aptos"/>
              </a:defRPr>
            </a:pPr>
            <a:r>
              <a:t>Screening is not always connected to personalised practice and progress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Introducing LexiLand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One platform connecting identification, learning activities and progress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81328"/>
            <a:ext cx="1060704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200" b="1" i="0">
                <a:solidFill>
                  <a:srgbClr val="1F4E39"/>
                </a:solidFill>
                <a:latin typeface="Aptos"/>
              </a:defRPr>
            </a:pPr>
            <a:r>
              <a:t>LexiLand is a Sinhala–English, jungle-themed web platform designed for Grade 2–4 learners.</a:t>
            </a:r>
          </a:p>
        </p:txBody>
      </p:sp>
      <p:sp>
        <p:nvSpPr>
          <p:cNvPr id="7" name="Oval 6"/>
          <p:cNvSpPr/>
          <p:nvPr/>
        </p:nvSpPr>
        <p:spPr>
          <a:xfrm>
            <a:off x="4663440" y="2743200"/>
            <a:ext cx="2743200" cy="1325880"/>
          </a:xfrm>
          <a:prstGeom prst="ellipse">
            <a:avLst/>
          </a:prstGeom>
          <a:solidFill>
            <a:srgbClr val="1F4E39"/>
          </a:solidFill>
          <a:ln>
            <a:solidFill>
              <a:srgbClr val="1F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28032" y="3044952"/>
            <a:ext cx="2423160" cy="731520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ONE LEARNER</a:t>
            </a:r>
          </a:p>
          <a:p>
            <a:pPr algn="ctr">
              <a:spcAft>
                <a:spcPts val="600"/>
              </a:spcAft>
              <a:defRPr sz="2000" b="1" i="0">
                <a:solidFill>
                  <a:srgbClr val="FFFFFF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60320"/>
            <a:ext cx="3017520" cy="105156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15768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29D38"/>
                </a:solidFill>
                <a:latin typeface="Aptos"/>
              </a:defRPr>
            </a:pPr>
            <a:r>
              <a:t>Working Memory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90672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Hold &amp; sequence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2560320"/>
            <a:ext cx="3017520" cy="105156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715768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5B9B5D"/>
                </a:solidFill>
                <a:latin typeface="Aptos"/>
              </a:defRPr>
            </a:pPr>
            <a:r>
              <a:t>Phonological Awareness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3090672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Sounds &amp; letters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343400"/>
            <a:ext cx="3017520" cy="1051560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98848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DE8096"/>
                </a:solidFill>
                <a:latin typeface="Aptos"/>
              </a:defRPr>
            </a:pPr>
            <a:r>
              <a:t>Reading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73752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Reading behaviour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4343400"/>
            <a:ext cx="3017520" cy="1051560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498848"/>
            <a:ext cx="2743200" cy="29260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886FB5"/>
                </a:solidFill>
                <a:latin typeface="Aptos"/>
              </a:defRPr>
            </a:pPr>
            <a:r>
              <a:t>Speech 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873752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Reading aloud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760720"/>
            <a:ext cx="822960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1F4E39"/>
                </a:solidFill>
                <a:latin typeface="Aptos"/>
              </a:defRPr>
            </a:pPr>
            <a:r>
              <a:t>Screen → Analyse → Assign a support level → Practise → Track progress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39"/>
          </a:solidFill>
          <a:ln>
            <a:solidFill>
              <a:srgbClr val="1F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The Four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Each component explores a different skill area; together they build a broader support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36192"/>
            <a:ext cx="5349240" cy="1938528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1755648"/>
            <a:ext cx="658368" cy="658368"/>
          </a:xfrm>
          <a:prstGeom prst="ellipse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1719072"/>
            <a:ext cx="4069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Working Memory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103120"/>
            <a:ext cx="4023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F29D38"/>
                </a:solidFill>
                <a:latin typeface="Aptos"/>
              </a:defRPr>
            </a:pPr>
            <a:r>
              <a:t>Rabbit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587752"/>
            <a:ext cx="4846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2A362E"/>
                </a:solidFill>
                <a:latin typeface="Aptos"/>
              </a:defRPr>
            </a:pPr>
            <a:r>
              <a:t>Looks at how learners hold and sequence numbers, words, pictures and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1536192"/>
            <a:ext cx="5349240" cy="1938528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47103" y="1755648"/>
            <a:ext cx="658368" cy="658368"/>
          </a:xfrm>
          <a:prstGeom prst="ellipse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1929384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1719072"/>
            <a:ext cx="4069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Phonological Awareness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2103120"/>
            <a:ext cx="4023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5B9B5D"/>
                </a:solidFill>
                <a:latin typeface="Aptos"/>
              </a:defRPr>
            </a:pPr>
            <a:r>
              <a:t>Parrot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2587752"/>
            <a:ext cx="4846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2A362E"/>
                </a:solidFill>
                <a:latin typeface="Aptos"/>
              </a:defRPr>
            </a:pPr>
            <a:r>
              <a:t>Explores sound awareness, letter–sound links and spelling-related skills in Sinhala and English.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776472"/>
            <a:ext cx="5349240" cy="1938528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995928"/>
            <a:ext cx="658368" cy="658368"/>
          </a:xfrm>
          <a:prstGeom prst="ellipse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69663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959352"/>
            <a:ext cx="4069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Reading Processing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343400"/>
            <a:ext cx="4023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DE8096"/>
                </a:solidFill>
                <a:latin typeface="Aptos"/>
              </a:defRPr>
            </a:pPr>
            <a:r>
              <a:t>Zebra guide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4828031"/>
            <a:ext cx="4846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2A362E"/>
                </a:solidFill>
                <a:latin typeface="Aptos"/>
              </a:defRPr>
            </a:pPr>
            <a:r>
              <a:t>Examines reading accuracy, response timing and gaze-related behaviour during reading.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45936" y="3776472"/>
            <a:ext cx="5349240" cy="1938528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47103" y="3995928"/>
            <a:ext cx="658368" cy="658368"/>
          </a:xfrm>
          <a:prstGeom prst="ellipse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3"/>
            <a:ext cx="54864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3959352"/>
            <a:ext cx="4069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Speech Processing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1775" y="4343400"/>
            <a:ext cx="4023360" cy="25603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1" i="0">
                <a:solidFill>
                  <a:srgbClr val="886FB5"/>
                </a:solidFill>
                <a:latin typeface="Aptos"/>
              </a:defRPr>
            </a:pPr>
            <a:r>
              <a:t>Lion guide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4828031"/>
            <a:ext cx="484632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0" i="0">
                <a:solidFill>
                  <a:srgbClr val="2A362E"/>
                </a:solidFill>
                <a:latin typeface="Aptos"/>
              </a:defRPr>
            </a:pPr>
            <a:r>
              <a:t>Uses reading-aloud recordings and speech analysis to explore pronunciation, decoding and fluency.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A Shared Learning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The four components follow a consistent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331720"/>
            <a:ext cx="2057400" cy="192024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24712" y="2029968"/>
            <a:ext cx="621792" cy="621792"/>
          </a:xfrm>
          <a:prstGeom prst="ellipse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212848"/>
            <a:ext cx="4389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8892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F29D38"/>
                </a:solidFill>
                <a:latin typeface="Aptos"/>
              </a:defRPr>
            </a:pPr>
            <a:r>
              <a:t>Identify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7830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Learner completes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screening activities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926080"/>
            <a:ext cx="320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F4E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0632" y="2331720"/>
            <a:ext cx="2057400" cy="192024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3864" y="2029968"/>
            <a:ext cx="621792" cy="621792"/>
          </a:xfrm>
          <a:prstGeom prst="ellipse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75304" y="2212848"/>
            <a:ext cx="4389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78892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5B9B5D"/>
                </a:solidFill>
                <a:latin typeface="Aptos"/>
              </a:defRPr>
            </a:pPr>
            <a:r>
              <a:t>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3246120"/>
            <a:ext cx="17830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Responses and available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evidence are assessed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2926080"/>
            <a:ext cx="320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F4E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2331720"/>
            <a:ext cx="2057400" cy="1920240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43016" y="2029968"/>
            <a:ext cx="621792" cy="621792"/>
          </a:xfrm>
          <a:prstGeom prst="ellipse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34456" y="2212848"/>
            <a:ext cx="4389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78892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DE8096"/>
                </a:solidFill>
                <a:latin typeface="Aptos"/>
              </a:defRPr>
            </a:pPr>
            <a:r>
              <a:t>Assign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3246120"/>
            <a:ext cx="17830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A component-level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support indication is 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2926080"/>
            <a:ext cx="320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F4E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88936" y="2331720"/>
            <a:ext cx="2057400" cy="1920240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202167" y="2029968"/>
            <a:ext cx="621792" cy="621792"/>
          </a:xfrm>
          <a:prstGeom prst="ellipse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2212848"/>
            <a:ext cx="4389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6096" y="278892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886FB5"/>
                </a:solidFill>
                <a:latin typeface="Aptos"/>
              </a:defRPr>
            </a:pPr>
            <a:r>
              <a:t>Practise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246120"/>
            <a:ext cx="17830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Learner completes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levelled activities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46336" y="2926080"/>
            <a:ext cx="32004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200" b="1" i="0">
                <a:solidFill>
                  <a:srgbClr val="1F4E3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48088" y="2331720"/>
            <a:ext cx="2057400" cy="1920240"/>
          </a:xfrm>
          <a:prstGeom prst="roundRect">
            <a:avLst/>
          </a:prstGeom>
          <a:solidFill>
            <a:srgbClr val="DEEBE2"/>
          </a:solidFill>
          <a:ln>
            <a:solidFill>
              <a:srgbClr val="DEE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61319" y="2029968"/>
            <a:ext cx="621792" cy="621792"/>
          </a:xfrm>
          <a:prstGeom prst="ellipse">
            <a:avLst/>
          </a:prstGeom>
          <a:solidFill>
            <a:srgbClr val="1F4E39"/>
          </a:solidFill>
          <a:ln>
            <a:solidFill>
              <a:srgbClr val="1F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52760" y="2212848"/>
            <a:ext cx="438912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600" b="1" i="0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85248" y="2788920"/>
            <a:ext cx="178308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1F4E39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5248" y="3246120"/>
            <a:ext cx="1783080" cy="6583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Progress is recorded</a:t>
            </a:r>
          </a:p>
          <a:p>
            <a:pPr algn="ctr">
              <a:spcAft>
                <a:spcPts val="600"/>
              </a:spcAft>
              <a:defRPr sz="1300" b="0" i="0">
                <a:solidFill>
                  <a:srgbClr val="2A362E"/>
                </a:solidFill>
                <a:latin typeface="Aptos"/>
              </a:defRPr>
            </a:pPr>
            <a:r>
              <a:t>for adult 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074920"/>
            <a:ext cx="1033272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1F4E39"/>
                </a:solidFill>
                <a:latin typeface="Aptos"/>
              </a:defRPr>
            </a:pPr>
            <a:r>
              <a:t>Four progressive improvement levels • Stars and activity history • Reports for parents, teachers and schools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Designed for Young Learners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A consistent, supportive experience across Sinhala and English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492240" cy="411480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Jungle-inspired visual world with four mascot-guided learning areas.</a:t>
            </a:r>
          </a:p>
          <a:p>
            <a:pPr>
              <a:spcAft>
                <a:spcPts val="13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Short activities and audio-supported instructions.</a:t>
            </a:r>
          </a:p>
          <a:p>
            <a:pPr>
              <a:spcAft>
                <a:spcPts val="13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Clear typography, predictable navigation and colour-coded levels.</a:t>
            </a:r>
          </a:p>
          <a:p>
            <a:pPr>
              <a:spcAft>
                <a:spcPts val="13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Encouraging feedback and retry opportunities rather than judgement.</a:t>
            </a:r>
          </a:p>
          <a:p>
            <a:pPr>
              <a:spcAft>
                <a:spcPts val="13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Shared interface patterns across screening, games and reports.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0" y="1783080"/>
            <a:ext cx="1143000" cy="1143000"/>
          </a:xfrm>
          <a:prstGeom prst="ellipse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2440" y="2990088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1F4E39"/>
                </a:solidFill>
                <a:latin typeface="Aptos"/>
              </a:defRPr>
            </a:pPr>
            <a:r>
              <a:t>RABBIT</a:t>
            </a:r>
          </a:p>
        </p:txBody>
      </p:sp>
      <p:sp>
        <p:nvSpPr>
          <p:cNvPr id="9" name="Oval 8"/>
          <p:cNvSpPr/>
          <p:nvPr/>
        </p:nvSpPr>
        <p:spPr>
          <a:xfrm>
            <a:off x="9875520" y="1783080"/>
            <a:ext cx="1143000" cy="1143000"/>
          </a:xfrm>
          <a:prstGeom prst="ellipse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38360" y="2990088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1F4E39"/>
                </a:solidFill>
                <a:latin typeface="Aptos"/>
              </a:defRPr>
            </a:pPr>
            <a:r>
              <a:t>PARROT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0" y="3429000"/>
            <a:ext cx="1143000" cy="1143000"/>
          </a:xfrm>
          <a:prstGeom prst="ellipse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92440" y="4636008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1F4E39"/>
                </a:solidFill>
                <a:latin typeface="Aptos"/>
              </a:defRPr>
            </a:pPr>
            <a:r>
              <a:t>ZEBRA</a:t>
            </a:r>
          </a:p>
        </p:txBody>
      </p:sp>
      <p:sp>
        <p:nvSpPr>
          <p:cNvPr id="13" name="Oval 12"/>
          <p:cNvSpPr/>
          <p:nvPr/>
        </p:nvSpPr>
        <p:spPr>
          <a:xfrm>
            <a:off x="9875520" y="3429000"/>
            <a:ext cx="1143000" cy="1143000"/>
          </a:xfrm>
          <a:prstGeom prst="ellipse">
            <a:avLst/>
          </a:prstGeom>
          <a:solidFill>
            <a:srgbClr val="886FB5"/>
          </a:solidFill>
          <a:ln>
            <a:solidFill>
              <a:srgbClr val="886F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38360" y="4636008"/>
            <a:ext cx="1417320" cy="2286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100" b="1" i="0">
                <a:solidFill>
                  <a:srgbClr val="1F4E39"/>
                </a:solidFill>
                <a:latin typeface="Aptos"/>
              </a:defRPr>
            </a:pPr>
            <a:r>
              <a:t>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5349240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1F4E39"/>
                </a:solidFill>
                <a:latin typeface="Aptos"/>
              </a:defRPr>
            </a:pPr>
            <a:r>
              <a:t>Accessible • Playful • Bilingual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9D38"/>
          </a:solidFill>
          <a:ln>
            <a:solidFill>
              <a:srgbClr val="F29D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Technology and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A shared platform with component-specific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514600" cy="137160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2240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5B9B5D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60320"/>
            <a:ext cx="2240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1F4E39"/>
                </a:solidFill>
                <a:latin typeface="Aptos"/>
              </a:defRPr>
            </a:pPr>
            <a:r>
              <a:t>React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828800"/>
            <a:ext cx="2514600" cy="137160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084831"/>
            <a:ext cx="2240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F29D38"/>
                </a:solidFill>
                <a:latin typeface="Aptos"/>
              </a:defRPr>
            </a:pPr>
            <a:r>
              <a:t>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560320"/>
            <a:ext cx="2240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1F4E39"/>
                </a:solidFill>
                <a:latin typeface="Aptos"/>
              </a:defRPr>
            </a:pPr>
            <a:r>
              <a:t>Node.js + Express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28600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828800"/>
            <a:ext cx="2514600" cy="1371600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2084831"/>
            <a:ext cx="2240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886FB5"/>
                </a:solidFill>
                <a:latin typeface="Aptos"/>
              </a:defRPr>
            </a:pPr>
            <a: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560320"/>
            <a:ext cx="2240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1F4E39"/>
                </a:solidFill>
                <a:latin typeface="Aptos"/>
              </a:defRPr>
            </a:pPr>
            <a:r>
              <a:t>MongoDB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86000"/>
            <a:ext cx="3657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000" b="1" i="0">
                <a:solidFill>
                  <a:srgbClr val="1F4E39"/>
                </a:solidFill>
                <a:latin typeface="Aptos"/>
              </a:defRPr>
            </a:pPr>
            <a:r>
              <a:t>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0" y="1828800"/>
            <a:ext cx="2514600" cy="1371600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084831"/>
            <a:ext cx="224028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DE8096"/>
                </a:solidFill>
                <a:latin typeface="Aptos"/>
              </a:defRPr>
            </a:pPr>
            <a:r>
              <a:t>ML &amp; Media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560320"/>
            <a:ext cx="2240280" cy="3657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800" b="1" i="0">
                <a:solidFill>
                  <a:srgbClr val="1F4E39"/>
                </a:solidFill>
                <a:latin typeface="Aptos"/>
              </a:defRPr>
            </a:pPr>
            <a:r>
              <a:t>Python services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3886200"/>
            <a:ext cx="9875520" cy="1188720"/>
          </a:xfrm>
          <a:prstGeom prst="roundRect">
            <a:avLst/>
          </a:prstGeom>
          <a:solidFill>
            <a:srgbClr val="FFFAE6"/>
          </a:solidFill>
          <a:ln>
            <a:solidFill>
              <a:srgbClr val="FFF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096512"/>
            <a:ext cx="192024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29D38"/>
                </a:solidFill>
                <a:latin typeface="Aptos"/>
              </a:defRPr>
            </a:pPr>
            <a:r>
              <a:t>Shared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069080"/>
            <a:ext cx="73152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600" b="1" i="0">
                <a:solidFill>
                  <a:srgbClr val="2A362E"/>
                </a:solidFill>
                <a:latin typeface="Aptos"/>
              </a:defRPr>
            </a:pPr>
            <a:r>
              <a:t>Authentication  •  Learner profile  •  Component results  •  Progress reports  •  UI/UX 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1F4E39"/>
                </a:solidFill>
                <a:latin typeface="Aptos"/>
              </a:defRPr>
            </a:pPr>
            <a:r>
              <a:t>Reading Processing: MediaPipe gaze analysis   |   Speech Processing: Whisper-based speech recognition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39"/>
          </a:solidFill>
          <a:ln>
            <a:solidFill>
              <a:srgbClr val="1F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Testing and Current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Reported evidence from the current development and evaluation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5257800" cy="123444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237744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5B9B5D"/>
                </a:solidFill>
                <a:latin typeface="Aptos"/>
              </a:defRPr>
            </a:pPr>
            <a:r>
              <a:t>35 / 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828800"/>
            <a:ext cx="26517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A362E"/>
                </a:solidFill>
                <a:latin typeface="Aptos"/>
              </a:defRPr>
            </a:pPr>
            <a:r>
              <a:t>Backend tests passed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00200"/>
            <a:ext cx="5257800" cy="123444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64792"/>
            <a:ext cx="237744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F29D38"/>
                </a:solidFill>
                <a:latin typeface="Aptos"/>
              </a:defRPr>
            </a:pPr>
            <a:r>
              <a:t>1,303 / 1,303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1828800"/>
            <a:ext cx="26517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A362E"/>
                </a:solidFill>
                <a:latin typeface="Aptos"/>
              </a:defRPr>
            </a:pPr>
            <a:r>
              <a:t>Frontend tests passed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00400"/>
            <a:ext cx="5257800" cy="1234440"/>
          </a:xfrm>
          <a:prstGeom prst="roundRect">
            <a:avLst/>
          </a:prstGeom>
          <a:solidFill>
            <a:srgbClr val="EBE5F7"/>
          </a:solidFill>
          <a:ln>
            <a:solidFill>
              <a:srgbClr val="EBE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64992"/>
            <a:ext cx="237744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886FB5"/>
                </a:solidFill>
                <a:latin typeface="Aptos"/>
              </a:defRPr>
            </a:pPr>
            <a:r>
              <a:t>99.8%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29000"/>
            <a:ext cx="26517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A362E"/>
                </a:solidFill>
                <a:latin typeface="Aptos"/>
              </a:defRPr>
            </a:pPr>
            <a:r>
              <a:t>Working Memory model accuracy*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200400"/>
            <a:ext cx="5257800" cy="1234440"/>
          </a:xfrm>
          <a:prstGeom prst="roundRect">
            <a:avLst/>
          </a:prstGeom>
          <a:solidFill>
            <a:srgbClr val="FAE2E8"/>
          </a:solidFill>
          <a:ln>
            <a:solidFill>
              <a:srgbClr val="FA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364992"/>
            <a:ext cx="2377440" cy="47548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500" b="1" i="0">
                <a:solidFill>
                  <a:srgbClr val="DE8096"/>
                </a:solidFill>
                <a:latin typeface="Aptos"/>
              </a:defRPr>
            </a:pPr>
            <a:r>
              <a:t>91.8%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3429000"/>
            <a:ext cx="2651760" cy="6400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500" b="1" i="0">
                <a:solidFill>
                  <a:srgbClr val="2A362E"/>
                </a:solidFill>
                <a:latin typeface="Aptos"/>
              </a:defRPr>
            </a:pPr>
            <a:r>
              <a:t>Phonological Awareness accuracy*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983480"/>
            <a:ext cx="10332720" cy="822960"/>
          </a:xfrm>
          <a:prstGeom prst="roundRect">
            <a:avLst/>
          </a:prstGeom>
          <a:solidFill>
            <a:srgbClr val="FFFAE6"/>
          </a:solidFill>
          <a:ln>
            <a:solidFill>
              <a:srgbClr val="FFF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5184648"/>
            <a:ext cx="987552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500" b="1" i="0">
                <a:solidFill>
                  <a:srgbClr val="1F4E39"/>
                </a:solidFill>
                <a:latin typeface="Aptos"/>
              </a:defRPr>
            </a:pPr>
            <a:r>
              <a:t>Speech Processing prototype: 67.8% on public data with proxy labels. Reading Processing results are pending.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89320"/>
            <a:ext cx="1033272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100" b="0" i="1">
                <a:solidFill>
                  <a:srgbClr val="5F6F62"/>
                </a:solidFill>
                <a:latin typeface="Aptos"/>
              </a:defRPr>
            </a:pPr>
            <a:r>
              <a:t>*Five-fold cross-validation results reported in the source dissertation. Results need further validation on larger local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E8096"/>
          </a:solidFill>
          <a:ln>
            <a:solidFill>
              <a:srgbClr val="DE8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Responsible and Ethical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Designed to support learning—not replace specialist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332720" cy="429768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Results indicate areas where a learner may need support; they are not clinical diagnoses.</a:t>
            </a:r>
          </a:p>
          <a:p>
            <a:pPr>
              <a:spcAft>
                <a:spcPts val="15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Persistent difficulties should be discussed with qualified education or health professionals.</a:t>
            </a:r>
          </a:p>
          <a:p>
            <a:pPr>
              <a:spcAft>
                <a:spcPts val="15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Children’s profiles, recordings and gaze-related data require careful protection.</a:t>
            </a:r>
          </a:p>
          <a:p>
            <a:pPr>
              <a:spcAft>
                <a:spcPts val="15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Consent, data minimisation, access control and transparent data practices are important.</a:t>
            </a:r>
          </a:p>
          <a:p>
            <a:pPr>
              <a:spcAft>
                <a:spcPts val="1500"/>
              </a:spcAft>
              <a:defRPr sz="1900">
                <a:solidFill>
                  <a:srgbClr val="2A362E"/>
                </a:solidFill>
                <a:latin typeface="Aptos"/>
              </a:defRPr>
            </a:pPr>
            <a:r>
              <a:t>•  Larger, more diverse studies are needed to validate results across grades and languages.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B9B5D"/>
          </a:solidFill>
          <a:ln>
            <a:solidFill>
              <a:srgbClr val="5B9B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Value and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Building a pathway from early identification to continuing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5120640" cy="3474720"/>
          </a:xfrm>
          <a:prstGeom prst="roundRect">
            <a:avLst/>
          </a:prstGeom>
          <a:solidFill>
            <a:srgbClr val="E1EFD8"/>
          </a:solidFill>
          <a:ln>
            <a:solidFill>
              <a:srgbClr val="E1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5B9B5D"/>
                </a:solidFill>
                <a:latin typeface="Aptos"/>
              </a:defRPr>
            </a:pPr>
            <a:r>
              <a:t>WHO MAY BENEFIT?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31720"/>
            <a:ext cx="4480560" cy="219456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A362E"/>
                </a:solidFill>
                <a:latin typeface="Aptos"/>
              </a:defRPr>
            </a:pPr>
            <a:r>
              <a:t>•  Primary learners</a:t>
            </a:r>
          </a:p>
          <a:p>
            <a:pPr>
              <a:spcAft>
                <a:spcPts val="1000"/>
              </a:spcAft>
              <a:defRPr sz="1700">
                <a:solidFill>
                  <a:srgbClr val="2A362E"/>
                </a:solidFill>
                <a:latin typeface="Aptos"/>
              </a:defRPr>
            </a:pPr>
            <a:r>
              <a:t>•  Parents and guardians</a:t>
            </a:r>
          </a:p>
          <a:p>
            <a:pPr>
              <a:spcAft>
                <a:spcPts val="1000"/>
              </a:spcAft>
              <a:defRPr sz="1700">
                <a:solidFill>
                  <a:srgbClr val="2A362E"/>
                </a:solidFill>
                <a:latin typeface="Aptos"/>
              </a:defRPr>
            </a:pPr>
            <a:r>
              <a:t>•  Teachers and learning-support centres</a:t>
            </a:r>
          </a:p>
          <a:p>
            <a:pPr>
              <a:spcAft>
                <a:spcPts val="1000"/>
              </a:spcAft>
              <a:defRPr sz="1700">
                <a:solidFill>
                  <a:srgbClr val="2A362E"/>
                </a:solidFill>
                <a:latin typeface="Aptos"/>
              </a:defRPr>
            </a:pPr>
            <a:r>
              <a:t>•  School administrators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120640" cy="3474720"/>
          </a:xfrm>
          <a:prstGeom prst="roundRect">
            <a:avLst/>
          </a:prstGeom>
          <a:solidFill>
            <a:srgbClr val="FFEBCD"/>
          </a:solidFill>
          <a:ln>
            <a:solidFill>
              <a:srgbClr val="FFEB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4480560" cy="32004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700" b="1" i="0">
                <a:solidFill>
                  <a:srgbClr val="F29D3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26280" cy="2286000"/>
          </a:xfrm>
          <a:prstGeom prst="rect">
            <a:avLst/>
          </a:prstGeom>
          <a:noFill/>
        </p:spPr>
        <p:txBody>
          <a:bodyPr wrap="square" lIns="109728" rIns="73152" bIns="27432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2A362E"/>
                </a:solidFill>
                <a:latin typeface="Aptos"/>
              </a:defRPr>
            </a:pPr>
            <a:r>
              <a:t>•  Evaluate with larger school samples and specialist comparisons.</a:t>
            </a:r>
          </a:p>
          <a:p>
            <a:pPr>
              <a:spcAft>
                <a:spcPts val="900"/>
              </a:spcAft>
              <a:defRPr sz="1600">
                <a:solidFill>
                  <a:srgbClr val="2A362E"/>
                </a:solidFill>
                <a:latin typeface="Aptos"/>
              </a:defRPr>
            </a:pPr>
            <a:r>
              <a:t>•  Improve model quality using larger, consented local datasets.</a:t>
            </a:r>
          </a:p>
          <a:p>
            <a:pPr>
              <a:spcAft>
                <a:spcPts val="900"/>
              </a:spcAft>
              <a:defRPr sz="1600">
                <a:solidFill>
                  <a:srgbClr val="2A362E"/>
                </a:solidFill>
                <a:latin typeface="Aptos"/>
              </a:defRPr>
            </a:pPr>
            <a:r>
              <a:t>•  Strengthen privacy, security and fairness evaluation.</a:t>
            </a:r>
          </a:p>
          <a:p>
            <a:pPr>
              <a:spcAft>
                <a:spcPts val="900"/>
              </a:spcAft>
              <a:defRPr sz="1600">
                <a:solidFill>
                  <a:srgbClr val="2A362E"/>
                </a:solidFill>
                <a:latin typeface="Aptos"/>
              </a:defRPr>
            </a:pPr>
            <a:r>
              <a:t>•  Explore wider language and school access.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10149840" cy="41148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700" b="1" i="0">
                <a:solidFill>
                  <a:srgbClr val="1F4E39"/>
                </a:solidFill>
                <a:latin typeface="Aptos"/>
              </a:defRPr>
            </a:pPr>
            <a:r>
              <a:t>Intended contribution: more accessible bilingual learning support aligned with inclusive education.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39"/>
          </a:solidFill>
          <a:ln>
            <a:solidFill>
              <a:srgbClr val="1F4E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56692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2800" b="1" i="0">
                <a:solidFill>
                  <a:srgbClr val="1F4E39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47472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1200" b="0" i="0">
                <a:solidFill>
                  <a:srgbClr val="5F6F62"/>
                </a:solidFill>
                <a:latin typeface="Aptos"/>
              </a:defRPr>
            </a:pPr>
            <a:r>
              <a:t>Four complementary components. One connected learning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10972800" cy="201168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l">
              <a:spcAft>
                <a:spcPts val="600"/>
              </a:spcAft>
              <a:defRPr sz="900" b="1" i="0">
                <a:solidFill>
                  <a:srgbClr val="5F6F62"/>
                </a:solidFill>
                <a:latin typeface="Aptos"/>
              </a:defRPr>
            </a:pPr>
            <a:r>
              <a:t>LEXILAND  •  COMMON RESEARCH PROJECT                            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500" b="1" i="0">
                <a:solidFill>
                  <a:srgbClr val="1F4E39"/>
                </a:solidFill>
                <a:latin typeface="Aptos"/>
              </a:defRPr>
            </a:pPr>
            <a:r>
              <a:t>LexiLand brings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300" b="1" i="0">
                <a:solidFill>
                  <a:srgbClr val="F29D38"/>
                </a:solidFill>
                <a:latin typeface="Aptos"/>
              </a:defRPr>
            </a:pPr>
            <a:r>
              <a:t>SCREENING  +  PERSONALISED PRACTICE  +  PROGRESS MONITORING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429000"/>
            <a:ext cx="9418320" cy="91440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2100" b="0" i="0">
                <a:solidFill>
                  <a:srgbClr val="2A362E"/>
                </a:solidFill>
                <a:latin typeface="Aptos"/>
              </a:defRPr>
            </a:pPr>
            <a:r>
              <a:t>A bilingual, child-centred platform designed to help families and educators better understand where a learner may need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5074920"/>
            <a:ext cx="4480560" cy="59436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3000" b="1" i="0">
                <a:solidFill>
                  <a:srgbClr val="1F4E3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5806440"/>
            <a:ext cx="4480560" cy="274320"/>
          </a:xfrm>
          <a:prstGeom prst="rect">
            <a:avLst/>
          </a:prstGeom>
          <a:noFill/>
        </p:spPr>
        <p:txBody>
          <a:bodyPr wrap="square" lIns="73152" rIns="73152" tIns="73152" bIns="73152" anchor="t">
            <a:spAutoFit/>
          </a:bodyPr>
          <a:lstStyle/>
          <a:p>
            <a:pPr algn="ctr">
              <a:spcAft>
                <a:spcPts val="600"/>
              </a:spcAft>
              <a:defRPr sz="1200" b="1" i="0">
                <a:solidFill>
                  <a:srgbClr val="5F6F62"/>
                </a:solidFill>
                <a:latin typeface="Aptos"/>
              </a:defRPr>
            </a:pPr>
            <a:r>
              <a:t>LEXILAND  •  R26-IT-130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